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Mastery level</c:v>
                </c:pt>
              </c:strCache>
            </c:strRef>
          </c:tx>
          <c:spPr>
            <a:solidFill>
              <a:srgbClr val="1F9D77"/>
            </a:solidFill>
            <a:ln w="31750" cap="flat">
              <a:solidFill>
                <a:srgbClr val="1F9D7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F9D77"/>
              </a:solidFill>
              <a:ln w="9525" cap="flat">
                <a:solidFill>
                  <a:srgbClr val="1F9D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GitHub</c:v>
                  </c:pt>
                  <c:pt idx="1">
                    <c:v>Claude Code</c:v>
                  </c:pt>
                  <c:pt idx="2">
                    <c:v>Slack</c:v>
                  </c:pt>
                  <c:pt idx="3">
                    <c:v>VS Code</c:v>
                  </c:pt>
                  <c:pt idx="4">
                    <c:v>Autonomous learning</c:v>
                  </c:pt>
                  <c:pt idx="5">
                    <c:v>Structured problem-solving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0E1830"/>
          </a:solidFill>
          <a:ln/>
        </p:spPr>
      </p:sp>
      <p:pic>
        <p:nvPicPr>
          <p:cNvPr id="3" name="Image 0" descr="C:\Users\emili\Downloads\internship_report_SPE\docs\assets\esm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99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9436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21792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Intern at Bewizit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21792" y="242316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June and July 2026 I spent one month at Bewizit as a full-stack developer intern, working across three products — weteam, periscorp and periscorp-deck — while helping the team get more out of its AI-assisted development workflow. This summary distills the internship's organization, tasks, skills, and outcomes into a single overview.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75320" y="548640"/>
            <a:ext cx="3383280" cy="5760720"/>
          </a:xfrm>
          <a:prstGeom prst="roundRect">
            <a:avLst>
              <a:gd name="adj" fmla="val 3243"/>
            </a:avLst>
          </a:prstGeom>
          <a:solidFill>
            <a:srgbClr val="1C2C4F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49640" y="1325880"/>
            <a:ext cx="457200" cy="45720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89720" y="1307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189720" y="15636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Bewizit — web &amp; mobile app agency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549640" y="2258568"/>
            <a:ext cx="457200" cy="45720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37744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9189720" y="2496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rue de Vienne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549640" y="3191256"/>
            <a:ext cx="457200" cy="45720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331012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89720" y="3172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91897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7 – July 8, 2026 (1 month)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549640" y="4123944"/>
            <a:ext cx="457200" cy="45720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424281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89720" y="4105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9189720" y="4361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Wizel, CEO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549640" y="5056632"/>
            <a:ext cx="457200" cy="45720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5175504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9720" y="5038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9189720" y="52943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Intern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 — Overview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706831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Bewizit — Internship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ili\Downloads\internship_report_SPE\docs\assets\esm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657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58795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at Bewizit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932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two-person reporting line, with the intern's work feeding directly into three client products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39996" y="16002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101600" dist="38100" dir="5400000">
              <a:srgbClr val="0E1830">
                <a:alpha val="12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64" y="1837944"/>
            <a:ext cx="438912" cy="4389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17236" y="170992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Wizel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094476" y="2514600"/>
            <a:ext cx="0" cy="502920"/>
          </a:xfrm>
          <a:prstGeom prst="line">
            <a:avLst/>
          </a:prstGeom>
          <a:noFill/>
          <a:ln w="25400">
            <a:solidFill>
              <a:srgbClr val="9DB2D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402836" y="30175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1F9D77"/>
          </a:solidFill>
          <a:ln/>
          <a:effectLst>
            <a:outerShdw sx="100000" sy="100000" kx="0" ky="0" algn="bl" rotWithShape="0" blurRad="101600" dist="38100" dir="5400000">
              <a:srgbClr val="0E1830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04" y="3255264"/>
            <a:ext cx="438912" cy="4389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80076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Emilien Amon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Intern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106156" y="3090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management layer in between — the intern reported directly to the CEO for all three projects.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094476" y="3931920"/>
            <a:ext cx="0" cy="411480"/>
          </a:xfrm>
          <a:prstGeom prst="line">
            <a:avLst/>
          </a:prstGeom>
          <a:noFill/>
          <a:ln w="25400">
            <a:solidFill>
              <a:srgbClr val="9DB2D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894076" y="4343400"/>
            <a:ext cx="0" cy="0"/>
          </a:xfrm>
          <a:prstGeom prst="line">
            <a:avLst/>
          </a:prstGeom>
          <a:noFill/>
          <a:ln w="19050">
            <a:solidFill>
              <a:srgbClr val="C7D4EA"/>
            </a:solidFill>
            <a:prstDash val="dash"/>
          </a:ln>
        </p:spPr>
      </p:sp>
      <p:sp>
        <p:nvSpPr>
          <p:cNvPr id="17" name="Shape 11"/>
          <p:cNvSpPr/>
          <p:nvPr/>
        </p:nvSpPr>
        <p:spPr>
          <a:xfrm>
            <a:off x="1522476" y="43434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EF3FB"/>
          </a:solidFill>
          <a:ln w="12700">
            <a:solidFill>
              <a:srgbClr val="C7D4E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705356" y="454456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4228" y="4663440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299716" y="4471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weteam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2299716" y="4855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SaaS platform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094476" y="4343400"/>
            <a:ext cx="0" cy="0"/>
          </a:xfrm>
          <a:prstGeom prst="line">
            <a:avLst/>
          </a:prstGeom>
          <a:noFill/>
          <a:ln w="19050">
            <a:solidFill>
              <a:srgbClr val="C7D4EA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4722876" y="43434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EF3FB"/>
          </a:solidFill>
          <a:ln w="12700">
            <a:solidFill>
              <a:srgbClr val="C7D4E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905756" y="454456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628" y="466344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00116" y="4471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periscorp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500116" y="4855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mature app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9294876" y="4343400"/>
            <a:ext cx="0" cy="0"/>
          </a:xfrm>
          <a:prstGeom prst="line">
            <a:avLst/>
          </a:prstGeom>
          <a:noFill/>
          <a:ln w="19050">
            <a:solidFill>
              <a:srgbClr val="C7D4EA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7923276" y="43434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EF3FB"/>
          </a:solidFill>
          <a:ln w="12700">
            <a:solidFill>
              <a:srgbClr val="C7D4EA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106156" y="454456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028" y="4663440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700516" y="4471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periscorp-deck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8700516" y="4855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 — Organization chart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706831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Bewizit — Internship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ili\Downloads\internship_report_SPE\docs\assets\esm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657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58795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Month, Three Products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932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7 – July 8, 2026 — tasks carried out under the CEO's direct supervision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640080" y="1600200"/>
            <a:ext cx="10908792" cy="0"/>
          </a:xfrm>
          <a:prstGeom prst="line">
            <a:avLst/>
          </a:prstGeom>
          <a:noFill/>
          <a:ln w="25400">
            <a:solidFill>
              <a:srgbClr val="C7D4E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94360" y="1554480"/>
            <a:ext cx="91440" cy="91440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9" name="Text 5"/>
          <p:cNvSpPr/>
          <p:nvPr/>
        </p:nvSpPr>
        <p:spPr>
          <a:xfrm>
            <a:off x="18288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7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21558" y="1554480"/>
            <a:ext cx="91440" cy="91440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11" name="Text 7"/>
          <p:cNvSpPr/>
          <p:nvPr/>
        </p:nvSpPr>
        <p:spPr>
          <a:xfrm>
            <a:off x="2910078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14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48756" y="1554480"/>
            <a:ext cx="91440" cy="91440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13" name="Text 9"/>
          <p:cNvSpPr/>
          <p:nvPr/>
        </p:nvSpPr>
        <p:spPr>
          <a:xfrm>
            <a:off x="5637276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21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775954" y="1554480"/>
            <a:ext cx="91440" cy="91440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15" name="Text 11"/>
          <p:cNvSpPr/>
          <p:nvPr/>
        </p:nvSpPr>
        <p:spPr>
          <a:xfrm>
            <a:off x="8364474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28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1503152" y="1554480"/>
            <a:ext cx="91440" cy="91440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17" name="Text 13"/>
          <p:cNvSpPr/>
          <p:nvPr/>
        </p:nvSpPr>
        <p:spPr>
          <a:xfrm>
            <a:off x="11091672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8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2148840"/>
            <a:ext cx="3392424" cy="1965960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0E18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49631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233172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weteam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463040" y="2642616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SAAS PRODUCT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68680" y="297180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workflow/system behind it so the team could build faster.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68680" y="373075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Next.js · Supabase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398264" y="2148840"/>
            <a:ext cx="3392424" cy="1965960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0E183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26864" y="237744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49631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21224" y="233172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periscorp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221224" y="2642616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COMPANY'S MAIN APP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626864" y="297180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the underlying project structure of the oldest, biggest codebase.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626864" y="373075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PHP/Symfony · GraphQL · Next.js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156448" y="2148840"/>
            <a:ext cx="3392424" cy="1965960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0E183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385048" y="237744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49631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979408" y="233172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periscorp-deck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8979408" y="2642616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8385048" y="297180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organize the GitHub project for a maintainable, presentable deck.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8385048" y="373075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shadcn/ui · Markdown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429768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16233F"/>
          </a:solidFill>
          <a:ln/>
        </p:spPr>
      </p:sp>
      <p:sp>
        <p:nvSpPr>
          <p:cNvPr id="40" name="Text 33"/>
          <p:cNvSpPr/>
          <p:nvPr/>
        </p:nvSpPr>
        <p:spPr>
          <a:xfrm>
            <a:off x="640080" y="4434840"/>
            <a:ext cx="27271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9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800" dirty="0"/>
          </a:p>
        </p:txBody>
      </p:sp>
      <p:sp>
        <p:nvSpPr>
          <p:cNvPr id="41" name="Text 34"/>
          <p:cNvSpPr/>
          <p:nvPr/>
        </p:nvSpPr>
        <p:spPr>
          <a:xfrm>
            <a:off x="640080" y="5148072"/>
            <a:ext cx="272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3367278" y="4434840"/>
            <a:ext cx="27271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9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53+</a:t>
            </a:r>
            <a:endParaRPr lang="en-US" sz="3800" dirty="0"/>
          </a:p>
        </p:txBody>
      </p:sp>
      <p:sp>
        <p:nvSpPr>
          <p:cNvPr id="43" name="Text 36"/>
          <p:cNvSpPr/>
          <p:nvPr/>
        </p:nvSpPr>
        <p:spPr>
          <a:xfrm>
            <a:off x="3367278" y="5148072"/>
            <a:ext cx="272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opened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6094476" y="4434840"/>
            <a:ext cx="27271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9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45" name="Text 38"/>
          <p:cNvSpPr/>
          <p:nvPr/>
        </p:nvSpPr>
        <p:spPr>
          <a:xfrm>
            <a:off x="6094476" y="5148072"/>
            <a:ext cx="272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8821674" y="4434840"/>
            <a:ext cx="27271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9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47" name="Text 40"/>
          <p:cNvSpPr/>
          <p:nvPr/>
        </p:nvSpPr>
        <p:spPr>
          <a:xfrm>
            <a:off x="8821674" y="5148072"/>
            <a:ext cx="272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created from scratch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 — Tasks &amp; missions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706831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Bewizit — Internship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ili\Downloads\internship_report_SPE\docs\assets\esm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657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D7E4F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58795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4389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That Carry Into Research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9326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mastery gained at Bewizit maps directly onto the habits a research career demands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1732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6309360" y="1463040"/>
            <a:ext cx="5330952" cy="1417320"/>
          </a:xfrm>
          <a:prstGeom prst="roundRect">
            <a:avLst>
              <a:gd name="adj" fmla="val 6452"/>
            </a:avLst>
          </a:prstGeom>
          <a:solidFill>
            <a:srgbClr val="16233F"/>
          </a:solidFill>
          <a:ln/>
          <a:effectLst>
            <a:outerShdw sx="100000" sy="100000" kx="0" ky="0" algn="bl" rotWithShape="0" blurRad="101600" dist="38100" dir="5400000">
              <a:srgbClr val="0E1830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1F9D7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1822399"/>
            <a:ext cx="241402" cy="2414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23760" y="162763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DIRECTION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7223760" y="1901952"/>
            <a:ext cx="4187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research — plan confirmed, not changed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309360" y="3163824"/>
            <a:ext cx="109728" cy="109728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14" name="Text 8"/>
          <p:cNvSpPr/>
          <p:nvPr/>
        </p:nvSpPr>
        <p:spPr>
          <a:xfrm>
            <a:off x="6583680" y="3035808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learning — shifted from asking frequent questions to self-directed research within two weeks.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309360" y="4123944"/>
            <a:ext cx="109728" cy="109728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16" name="Text 10"/>
          <p:cNvSpPr/>
          <p:nvPr/>
        </p:nvSpPr>
        <p:spPr>
          <a:xfrm>
            <a:off x="6583680" y="3995928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tool mastery — GitHub's PR workflow and Claude Code went from unknown to daily-driver.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309360" y="5084064"/>
            <a:ext cx="109728" cy="109728"/>
          </a:xfrm>
          <a:prstGeom prst="ellipse">
            <a:avLst/>
          </a:prstGeom>
          <a:solidFill>
            <a:srgbClr val="1F9D77"/>
          </a:solidFill>
          <a:ln/>
        </p:spPr>
      </p:sp>
      <p:sp>
        <p:nvSpPr>
          <p:cNvPr id="18" name="Text 12"/>
          <p:cNvSpPr/>
          <p:nvPr/>
        </p:nvSpPr>
        <p:spPr>
          <a:xfrm>
            <a:off x="6583680" y="4956048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problem-solving — applied to restructure the team's AI-assisted development process.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 — Skills &amp; future profession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706831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Bewizit — Internship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ili\Downloads\internship_report_SPE\docs\assets\esm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657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F9D77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58795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43891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Development at Bewizit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1188720" y="914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CSR policy — but a real social practice, and a concrete environmental opening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640080" y="1508760"/>
            <a:ext cx="5074920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/>
        </p:spPr>
      </p:sp>
      <p:sp>
        <p:nvSpPr>
          <p:cNvPr id="8" name="Shape 4"/>
          <p:cNvSpPr/>
          <p:nvPr/>
        </p:nvSpPr>
        <p:spPr>
          <a:xfrm>
            <a:off x="841248" y="170992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16550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Toltèque (social)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463040" y="19842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informal “Four Agreements” code of conduct keeps a healthy social environment inside the small team.</a:t>
            </a:r>
            <a:endParaRPr lang="en-US" sz="1080" dirty="0"/>
          </a:p>
        </p:txBody>
      </p:sp>
      <p:sp>
        <p:nvSpPr>
          <p:cNvPr id="12" name="Shape 7"/>
          <p:cNvSpPr/>
          <p:nvPr/>
        </p:nvSpPr>
        <p:spPr>
          <a:xfrm>
            <a:off x="6035040" y="1508760"/>
            <a:ext cx="5074920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/>
        </p:spPr>
      </p:sp>
      <p:sp>
        <p:nvSpPr>
          <p:cNvPr id="13" name="Shape 8"/>
          <p:cNvSpPr/>
          <p:nvPr/>
        </p:nvSpPr>
        <p:spPr>
          <a:xfrm>
            <a:off x="6236208" y="170992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0" y="16550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 by design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858000" y="19842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weteam and periscorp both exist to help other companies run more efficiently — a social benefit built into the product.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640080" y="3017520"/>
            <a:ext cx="5074920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/>
        </p:spPr>
      </p:sp>
      <p:sp>
        <p:nvSpPr>
          <p:cNvPr id="18" name="Shape 12"/>
          <p:cNvSpPr/>
          <p:nvPr/>
        </p:nvSpPr>
        <p:spPr>
          <a:xfrm>
            <a:off x="841248" y="321868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37560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3163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environmental policy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463040" y="349300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 for a company this size — no written environmental commitments exist today.</a:t>
            </a:r>
            <a:endParaRPr lang="en-US" sz="1080" dirty="0"/>
          </a:p>
        </p:txBody>
      </p:sp>
      <p:sp>
        <p:nvSpPr>
          <p:cNvPr id="22" name="Shape 15"/>
          <p:cNvSpPr/>
          <p:nvPr/>
        </p:nvSpPr>
        <p:spPr>
          <a:xfrm>
            <a:off x="6035040" y="3017520"/>
            <a:ext cx="5074920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/>
        </p:spPr>
      </p:sp>
      <p:sp>
        <p:nvSpPr>
          <p:cNvPr id="23" name="Shape 16"/>
          <p:cNvSpPr/>
          <p:nvPr/>
        </p:nvSpPr>
        <p:spPr>
          <a:xfrm>
            <a:off x="6236208" y="321868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33756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58000" y="3163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improvement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858000" y="349300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tracking and minimizing AI token/compute usage — already practiced — as a lightweight environmental metric.</a:t>
            </a:r>
            <a:endParaRPr lang="en-US" sz="1080" dirty="0"/>
          </a:p>
        </p:txBody>
      </p:sp>
      <p:sp>
        <p:nvSpPr>
          <p:cNvPr id="27" name="Shape 19"/>
          <p:cNvSpPr/>
          <p:nvPr/>
        </p:nvSpPr>
        <p:spPr>
          <a:xfrm>
            <a:off x="640080" y="457200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28" name="Text 20"/>
          <p:cNvSpPr/>
          <p:nvPr/>
        </p:nvSpPr>
        <p:spPr>
          <a:xfrm>
            <a:off x="91440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SELF-ASSESSED CSR GRADE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914400" y="49560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14/20</a:t>
            </a:r>
            <a:endParaRPr lang="en-US" sz="3400" dirty="0"/>
          </a:p>
        </p:txBody>
      </p:sp>
      <p:sp>
        <p:nvSpPr>
          <p:cNvPr id="30" name="Text 22"/>
          <p:cNvSpPr/>
          <p:nvPr/>
        </p:nvSpPr>
        <p:spPr>
          <a:xfrm>
            <a:off x="310896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 10/10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212080" y="4782312"/>
            <a:ext cx="6062472" cy="201168"/>
          </a:xfrm>
          <a:prstGeom prst="roundRect">
            <a:avLst>
              <a:gd name="adj" fmla="val 18182"/>
            </a:avLst>
          </a:prstGeom>
          <a:solidFill>
            <a:srgbClr val="2A3D66"/>
          </a:solidFill>
          <a:ln/>
        </p:spPr>
      </p:sp>
      <p:sp>
        <p:nvSpPr>
          <p:cNvPr id="32" name="Shape 24"/>
          <p:cNvSpPr/>
          <p:nvPr/>
        </p:nvSpPr>
        <p:spPr>
          <a:xfrm>
            <a:off x="5212080" y="4782312"/>
            <a:ext cx="6062472" cy="201168"/>
          </a:xfrm>
          <a:prstGeom prst="roundRect">
            <a:avLst>
              <a:gd name="adj" fmla="val 18182"/>
            </a:avLst>
          </a:prstGeom>
          <a:solidFill>
            <a:srgbClr val="1F9D77"/>
          </a:solidFill>
          <a:ln/>
        </p:spPr>
      </p:sp>
      <p:sp>
        <p:nvSpPr>
          <p:cNvPr id="33" name="Text 25"/>
          <p:cNvSpPr/>
          <p:nvPr/>
        </p:nvSpPr>
        <p:spPr>
          <a:xfrm>
            <a:off x="310896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 4/10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212080" y="5166360"/>
            <a:ext cx="6062472" cy="201168"/>
          </a:xfrm>
          <a:prstGeom prst="roundRect">
            <a:avLst>
              <a:gd name="adj" fmla="val 18182"/>
            </a:avLst>
          </a:prstGeom>
          <a:solidFill>
            <a:srgbClr val="2A3D66"/>
          </a:solidFill>
          <a:ln/>
        </p:spPr>
      </p:sp>
      <p:sp>
        <p:nvSpPr>
          <p:cNvPr id="35" name="Shape 27"/>
          <p:cNvSpPr/>
          <p:nvPr/>
        </p:nvSpPr>
        <p:spPr>
          <a:xfrm>
            <a:off x="5212080" y="5166360"/>
            <a:ext cx="2424989" cy="201168"/>
          </a:xfrm>
          <a:prstGeom prst="roundRect">
            <a:avLst>
              <a:gd name="adj" fmla="val 18182"/>
            </a:avLst>
          </a:prstGeom>
          <a:solidFill>
            <a:srgbClr val="1F9D77"/>
          </a:solidFill>
          <a:ln/>
        </p:spPr>
      </p:sp>
      <p:sp>
        <p:nvSpPr>
          <p:cNvPr id="36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 — Sustainable development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706831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Bewizit — Internship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ili\Downloads\internship_report_SPE\docs\assets\esm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LOOKING AHEAD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Process, Career Plan &amp; Reflection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1C2C4F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F9D7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" y="223387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1214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Search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6012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through personal networking, not a formal process — matched with a supervisor genuinely invested in my development.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only one opportunity was seriously considered.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broaden the funnel by combining networking with formal applications.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09360" y="182880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1C2C4F"/>
          </a:solidFill>
          <a:ln/>
        </p:spPr>
      </p:sp>
      <p:sp>
        <p:nvSpPr>
          <p:cNvPr id="11" name="Shape 7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1F9D7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39" y="223387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21214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Plan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aiming for physics research — limited overlap with full-stack development.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deliberately to explore a different professional environment.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unchanged — confirmed that autonomous learning and rigorous tool mastery transfer across domains.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66344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E183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1947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828032"/>
            <a:ext cx="9628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impressed me most is that you have to be very polyvalent to run your own company, and that it matters — even at a very small scale — to take on interns and help shape the people who’ll shape the workforce after you.”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 — Search, career &amp; conclusion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706831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Bewizit — Internship Executive Summary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 — Internship Report — Bewizit</dc:title>
  <dc:subject>PptxGenJS Presentation</dc:subject>
  <dc:creator>Emilien Amon</dc:creator>
  <cp:lastModifiedBy>Emilien Amon</cp:lastModifiedBy>
  <cp:revision>1</cp:revision>
  <dcterms:created xsi:type="dcterms:W3CDTF">2026-07-06T10:41:42Z</dcterms:created>
  <dcterms:modified xsi:type="dcterms:W3CDTF">2026-07-06T10:41:42Z</dcterms:modified>
</cp:coreProperties>
</file>